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9" r:id="rId2"/>
    <p:sldId id="270" r:id="rId3"/>
    <p:sldId id="271" r:id="rId4"/>
    <p:sldId id="272" r:id="rId5"/>
    <p:sldId id="273" r:id="rId6"/>
    <p:sldId id="263" r:id="rId7"/>
    <p:sldId id="274" r:id="rId8"/>
    <p:sldId id="275" r:id="rId9"/>
    <p:sldId id="276" r:id="rId10"/>
    <p:sldId id="277" r:id="rId11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65" d="100"/>
          <a:sy n="65" d="100"/>
        </p:scale>
        <p:origin x="724" y="60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4146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C78672D-F654-46B7-ABA2-263E416A68F8}" type="datetime1">
              <a:rPr lang="es-ES" smtClean="0"/>
              <a:t>25/02/2026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446DCAE-1661-43FF-8A44-43DAFDC1FD90}" type="slidenum">
              <a:rPr lang="es-ES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0CF120-2A5C-43CF-9B8E-FC9F5D1B8E73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C971FF-EF28-4195-A575-329446EFAA55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9C971FF-EF28-4195-A575-329446EFAA5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803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Inserte un mapa de su país.</a:t>
            </a: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1524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Inserte una imagen de una de las características geográficas de su país.</a:t>
            </a: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2792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Inserte una imagen que represente una estación en su país.</a:t>
            </a: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9894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Inserte una imagen de un animal o una planta que se encuentre en su país.</a:t>
            </a: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0140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rtlCol="0"/>
          <a:lstStyle/>
          <a:p>
            <a:pPr rtl="0"/>
            <a:fld id="{97A181B6-B371-4031-9CBE-ED0985B01CB6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89090" name="Rectángulo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s-CO"/>
          </a:p>
        </p:txBody>
      </p:sp>
      <p:sp>
        <p:nvSpPr>
          <p:cNvPr id="89091" name="Rectángulo 3"/>
          <p:cNvSpPr>
            <a:spLocks noGrp="1" noChangeArrowheads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Agregue puntos clave de la historia de su país en la escala de tiempo.</a:t>
            </a:r>
          </a:p>
        </p:txBody>
      </p:sp>
    </p:spTree>
    <p:extLst>
      <p:ext uri="{BB962C8B-B14F-4D97-AF65-F5344CB8AC3E}">
        <p14:creationId xmlns:p14="http://schemas.microsoft.com/office/powerpoint/2010/main" val="222905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Inserte una imagen que represente una costumbre o tradición local.</a:t>
            </a: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382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Inserte una imagen del líder político de su país.</a:t>
            </a: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4451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Inserte una imagen que represente una parte de la economía de su país.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1772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Inserte una imagen de uno de los puntos de interés de su país.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9C971FF-EF28-4195-A575-329446EFAA5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976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endParaRPr lang="es-ES" noProof="0" dirty="0">
              <a:solidFill>
                <a:schemeClr val="lt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FED894-9A7C-4575-BADB-E8F14A17A67B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236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8C951B-EEB2-403B-8DE9-1D5608842197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7015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rtlCol="0" anchor="b">
            <a:normAutofit/>
          </a:bodyPr>
          <a:lstStyle>
            <a:lvl1pPr algn="l">
              <a:defRPr sz="4400" b="0" cap="all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213150" y="685801"/>
            <a:ext cx="7853063" cy="1142999"/>
          </a:xfrm>
        </p:spPr>
        <p:txBody>
          <a:bodyPr rtlCol="0" anchor="t"/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574DA-6839-449F-8FB6-B87AB3B07470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336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233279" y="1828800"/>
            <a:ext cx="4708734" cy="4343400"/>
          </a:xfrm>
        </p:spPr>
        <p:txBody>
          <a:bodyPr rtlCol="0">
            <a:normAutofit/>
          </a:bodyPr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262479" y="1828800"/>
            <a:ext cx="4708734" cy="4343400"/>
          </a:xfrm>
        </p:spPr>
        <p:txBody>
          <a:bodyPr rtlCol="0">
            <a:normAutofit/>
          </a:bodyPr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974565-99F3-4453-A3F2-C93444B22134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3045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217614" y="1828799"/>
            <a:ext cx="4709160" cy="838201"/>
          </a:xfrm>
        </p:spPr>
        <p:txBody>
          <a:bodyPr rtlCol="0" anchor="ctr"/>
          <a:lstStyle>
            <a:lvl1pPr marL="0" indent="0" rtl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217614" y="2743200"/>
            <a:ext cx="4709160" cy="3428999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262054" y="1828799"/>
            <a:ext cx="4709160" cy="838201"/>
          </a:xfrm>
        </p:spPr>
        <p:txBody>
          <a:bodyPr rtlCol="0" anchor="ctr"/>
          <a:lstStyle>
            <a:lvl1pPr marL="0" indent="0" rtl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262054" y="2743200"/>
            <a:ext cx="4709160" cy="3428999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CB0914-81D5-4225-BE96-14F6A1543AF9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4210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9B2DCE-BE74-46DB-AFDA-823F6E2EEA98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3906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8BA2AA-3ACE-4C1C-97CE-BAB1C5203C19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297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865814" y="685800"/>
            <a:ext cx="5638800" cy="5486400"/>
          </a:xfrm>
        </p:spPr>
        <p:txBody>
          <a:bodyPr rtlCol="0">
            <a:normAutofit/>
          </a:bodyPr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279008-2B3F-45DC-ABB4-B016A86950DA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819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75E99E-31FC-44C4-A9BA-2DF7026BC3E2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029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82A33F-C145-4B7D-9BAE-0853FE497FB2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8745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217613" y="685800"/>
            <a:ext cx="7416138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CBC754-D002-44DD-878F-13AADEF89338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921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bg1"/>
            </a:gs>
            <a:gs pos="40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2">
                <a:lumMod val="9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 bwMode="ltGray">
          <a:xfrm>
            <a:off x="146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s-ES" sz="2400" noProof="0" dirty="0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editar los estilos de texto maestro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0DFEA511-49EE-4071-8517-15A3193DD268}" type="datetime1">
              <a:rPr lang="es-ES" noProof="0" smtClean="0"/>
              <a:t>25/02/2026</a:t>
            </a:fld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F36C87F6-986D-49E6-AF40-1B3A1EE8064D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3171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74520" indent="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algn="ctr"/>
            <a:r>
              <a:rPr lang="es-MX" b="1" dirty="0"/>
              <a:t>Clasificación de Hogares Pobres para la Focalización de Subsidios mediante Modelos Supervisados</a:t>
            </a:r>
            <a:endParaRPr lang="es-ES" b="1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David Felipe Ruiz Parra</a:t>
            </a:r>
          </a:p>
          <a:p>
            <a:pPr rtl="0"/>
            <a:r>
              <a:rPr lang="pt-BR" dirty="0"/>
              <a:t>Jaime Andrés Solano Ruiz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0">
              <a:schemeClr val="bg1"/>
            </a:gs>
            <a:gs pos="42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Objetivo General</a:t>
            </a:r>
            <a:endParaRPr lang="es-ES" b="1" dirty="0"/>
          </a:p>
        </p:txBody>
      </p:sp>
      <p:sp>
        <p:nvSpPr>
          <p:cNvPr id="2" name="Marcador de posición de contenido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45720" indent="0">
              <a:buNone/>
            </a:pPr>
            <a:r>
              <a:rPr lang="es-MX" dirty="0"/>
              <a:t>Desarrollar un modelo de clasificación supervisado que permita identificar hogares en condición de pobreza con alta precisión, mejorando la focalización de subsidios sociales.</a:t>
            </a:r>
          </a:p>
          <a:p>
            <a:pPr marL="45720" indent="0">
              <a:buNone/>
            </a:pPr>
            <a:r>
              <a:rPr lang="es-MX" b="1" dirty="0"/>
              <a:t>Objetivos Específicos</a:t>
            </a:r>
            <a:endParaRPr lang="es-MX" dirty="0"/>
          </a:p>
          <a:p>
            <a:r>
              <a:rPr lang="es-MX" dirty="0"/>
              <a:t>Reducir errores de inclusión y exclusión.</a:t>
            </a:r>
          </a:p>
          <a:p>
            <a:r>
              <a:rPr lang="es-MX" dirty="0"/>
              <a:t>Mejorar la eficiencia del gasto público.</a:t>
            </a:r>
          </a:p>
          <a:p>
            <a:r>
              <a:rPr lang="es-MX" dirty="0"/>
              <a:t>Apoyar la toma de decisiones basada en datos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695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Descripción del Problema</a:t>
            </a:r>
            <a:endParaRPr lang="es-ES" b="1" dirty="0"/>
          </a:p>
        </p:txBody>
      </p:sp>
      <p:sp>
        <p:nvSpPr>
          <p:cNvPr id="2" name="Marcador de posición de contenido 1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725229" cy="4343400"/>
          </a:xfrm>
        </p:spPr>
        <p:txBody>
          <a:bodyPr rtlCol="0">
            <a:normAutofit fontScale="92500" lnSpcReduction="10000"/>
          </a:bodyPr>
          <a:lstStyle/>
          <a:p>
            <a:pPr marL="45720" indent="0">
              <a:buNone/>
            </a:pPr>
            <a:r>
              <a:rPr lang="es-MX" dirty="0"/>
              <a:t>El sistema de focalización como el SISBÉN enfrenta:</a:t>
            </a:r>
          </a:p>
          <a:p>
            <a:r>
              <a:rPr lang="es-MX" dirty="0"/>
              <a:t>Información desactualizada</a:t>
            </a:r>
          </a:p>
          <a:p>
            <a:r>
              <a:rPr lang="es-MX" dirty="0"/>
              <a:t>Filtraciones (no pobres reciben subsidios)</a:t>
            </a:r>
          </a:p>
          <a:p>
            <a:r>
              <a:rPr lang="es-MX" dirty="0"/>
              <a:t>Subcobertura (pobres excluidos)</a:t>
            </a:r>
          </a:p>
          <a:p>
            <a:pPr marL="45720" indent="0">
              <a:buNone/>
            </a:pPr>
            <a:r>
              <a:rPr lang="es-MX" b="1" dirty="0"/>
              <a:t>Impacto:</a:t>
            </a:r>
            <a:endParaRPr lang="es-MX" dirty="0"/>
          </a:p>
          <a:p>
            <a:r>
              <a:rPr lang="es-MX" dirty="0"/>
              <a:t>Ineficiencia en el gasto público</a:t>
            </a:r>
          </a:p>
          <a:p>
            <a:r>
              <a:rPr lang="es-MX" dirty="0"/>
              <a:t>Problemas de equidad en la distribución de ayudas</a:t>
            </a:r>
          </a:p>
        </p:txBody>
      </p:sp>
    </p:spTree>
    <p:extLst>
      <p:ext uri="{BB962C8B-B14F-4D97-AF65-F5344CB8AC3E}">
        <p14:creationId xmlns:p14="http://schemas.microsoft.com/office/powerpoint/2010/main" val="119226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Entrega de Valor</a:t>
            </a:r>
            <a:endParaRPr lang="es-ES" b="1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6517317" cy="4343400"/>
          </a:xfrm>
        </p:spPr>
        <p:txBody>
          <a:bodyPr rtlCol="0">
            <a:normAutofit/>
          </a:bodyPr>
          <a:lstStyle/>
          <a:p>
            <a:pPr marL="45720" indent="0">
              <a:buNone/>
            </a:pPr>
            <a:r>
              <a:rPr lang="es-MX" dirty="0"/>
              <a:t>El modelo de Machine Learning permitirá:</a:t>
            </a:r>
          </a:p>
          <a:p>
            <a:r>
              <a:rPr lang="es-MX" dirty="0"/>
              <a:t>Aumentar la precisión de clasificación (meta: +10%)</a:t>
            </a:r>
          </a:p>
          <a:p>
            <a:r>
              <a:rPr lang="es-MX" dirty="0"/>
              <a:t>Optimizar la asignación de recursos</a:t>
            </a:r>
          </a:p>
          <a:p>
            <a:r>
              <a:rPr lang="es-MX" dirty="0"/>
              <a:t>Priorizar visitas de campo</a:t>
            </a:r>
          </a:p>
          <a:p>
            <a:r>
              <a:rPr lang="es-MX" dirty="0"/>
              <a:t>Reducir errores estructurales</a:t>
            </a:r>
          </a:p>
          <a:p>
            <a:r>
              <a:rPr lang="es-MX" dirty="0"/>
              <a:t>Apoyar decisiones en política social</a:t>
            </a:r>
          </a:p>
        </p:txBody>
      </p:sp>
    </p:spTree>
    <p:extLst>
      <p:ext uri="{BB962C8B-B14F-4D97-AF65-F5344CB8AC3E}">
        <p14:creationId xmlns:p14="http://schemas.microsoft.com/office/powerpoint/2010/main" val="88309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Stakeholders</a:t>
            </a:r>
            <a:endParaRPr lang="es-ES" b="1" dirty="0"/>
          </a:p>
        </p:txBody>
      </p:sp>
      <p:sp>
        <p:nvSpPr>
          <p:cNvPr id="6" name="Marcador de posición de contenido 5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6373301" cy="4343400"/>
          </a:xfrm>
        </p:spPr>
        <p:txBody>
          <a:bodyPr rtlCol="0">
            <a:normAutofit/>
          </a:bodyPr>
          <a:lstStyle/>
          <a:p>
            <a:pPr marL="45720" indent="0">
              <a:buNone/>
            </a:pPr>
            <a:r>
              <a:rPr lang="es-MX" b="1" dirty="0"/>
              <a:t>Decisores</a:t>
            </a:r>
            <a:endParaRPr lang="es-MX" dirty="0"/>
          </a:p>
          <a:p>
            <a:r>
              <a:rPr lang="es-MX" dirty="0"/>
              <a:t>Departamento Nacional de Planeación</a:t>
            </a:r>
          </a:p>
          <a:p>
            <a:r>
              <a:rPr lang="es-MX" dirty="0"/>
              <a:t>Secretarías de Desarrollo Social</a:t>
            </a:r>
          </a:p>
          <a:p>
            <a:pPr marL="45720" indent="0">
              <a:buNone/>
            </a:pPr>
            <a:r>
              <a:rPr lang="es-MX" b="1" dirty="0"/>
              <a:t>Afectados</a:t>
            </a:r>
            <a:endParaRPr lang="es-MX" dirty="0"/>
          </a:p>
          <a:p>
            <a:r>
              <a:rPr lang="es-MX" dirty="0"/>
              <a:t>Encuestadores y personal de campo</a:t>
            </a:r>
          </a:p>
          <a:p>
            <a:r>
              <a:rPr lang="es-MX" dirty="0"/>
              <a:t>Equipos de política pública</a:t>
            </a:r>
          </a:p>
          <a:p>
            <a:r>
              <a:rPr lang="es-MX" dirty="0"/>
              <a:t>Hogares beneficiarios potenciales</a:t>
            </a:r>
          </a:p>
        </p:txBody>
      </p:sp>
    </p:spTree>
    <p:extLst>
      <p:ext uri="{BB962C8B-B14F-4D97-AF65-F5344CB8AC3E}">
        <p14:creationId xmlns:p14="http://schemas.microsoft.com/office/powerpoint/2010/main" val="48973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Técnicas que se Utilizarán</a:t>
            </a:r>
            <a:endParaRPr lang="es-ES" b="1" dirty="0"/>
          </a:p>
        </p:txBody>
      </p:sp>
      <p:sp>
        <p:nvSpPr>
          <p:cNvPr id="9" name="Marcador de posición de contenido 8"/>
          <p:cNvSpPr>
            <a:spLocks noGrp="1"/>
          </p:cNvSpPr>
          <p:nvPr>
            <p:ph idx="1"/>
          </p:nvPr>
        </p:nvSpPr>
        <p:spPr>
          <a:xfrm>
            <a:off x="785564" y="1934926"/>
            <a:ext cx="5812904" cy="4624536"/>
          </a:xfrm>
        </p:spPr>
        <p:txBody>
          <a:bodyPr rtlCol="0">
            <a:normAutofit/>
          </a:bodyPr>
          <a:lstStyle/>
          <a:p>
            <a:pPr marL="45720" indent="0">
              <a:buNone/>
            </a:pPr>
            <a:r>
              <a:rPr lang="es-MX" b="1" dirty="0"/>
              <a:t>Problema:</a:t>
            </a:r>
            <a:r>
              <a:rPr lang="es-MX" dirty="0"/>
              <a:t> Clasificación Supervisada</a:t>
            </a:r>
          </a:p>
          <a:p>
            <a:r>
              <a:rPr lang="es-MX" b="1" dirty="0"/>
              <a:t>Modelos a evaluar:</a:t>
            </a:r>
            <a:endParaRPr lang="es-MX" dirty="0"/>
          </a:p>
          <a:p>
            <a:r>
              <a:rPr lang="es-MX" dirty="0"/>
              <a:t>Regresión Logística</a:t>
            </a:r>
          </a:p>
          <a:p>
            <a:r>
              <a:rPr lang="es-MX" dirty="0"/>
              <a:t>K-Vecinos Cercanos (KNN)</a:t>
            </a:r>
          </a:p>
          <a:p>
            <a:r>
              <a:rPr lang="es-MX" dirty="0"/>
              <a:t>Árboles de Decisión</a:t>
            </a:r>
          </a:p>
          <a:p>
            <a:r>
              <a:rPr lang="es-MX" dirty="0"/>
              <a:t>Random Forest</a:t>
            </a:r>
          </a:p>
        </p:txBody>
      </p:sp>
      <p:sp>
        <p:nvSpPr>
          <p:cNvPr id="2" name="Marcador de posición de contenido 8">
            <a:extLst>
              <a:ext uri="{FF2B5EF4-FFF2-40B4-BE49-F238E27FC236}">
                <a16:creationId xmlns:a16="http://schemas.microsoft.com/office/drawing/2014/main" id="{42F44080-3D9D-C26D-0EC7-5B01C3CFE5AF}"/>
              </a:ext>
            </a:extLst>
          </p:cNvPr>
          <p:cNvSpPr txBox="1">
            <a:spLocks/>
          </p:cNvSpPr>
          <p:nvPr/>
        </p:nvSpPr>
        <p:spPr>
          <a:xfrm>
            <a:off x="6602760" y="1934926"/>
            <a:ext cx="5461250" cy="46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4520" indent="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s-MX" b="1" dirty="0"/>
              <a:t>Criterios de evaluación:</a:t>
            </a:r>
            <a:endParaRPr lang="es-MX" dirty="0"/>
          </a:p>
          <a:p>
            <a:r>
              <a:rPr lang="es-MX" dirty="0"/>
              <a:t>Accuracy</a:t>
            </a:r>
          </a:p>
          <a:p>
            <a:r>
              <a:rPr lang="es-MX" dirty="0"/>
              <a:t>Recall</a:t>
            </a:r>
          </a:p>
          <a:p>
            <a:r>
              <a:rPr lang="es-MX" dirty="0"/>
              <a:t>Precisión</a:t>
            </a:r>
          </a:p>
          <a:p>
            <a:r>
              <a:rPr lang="es-MX" dirty="0"/>
              <a:t>F1-Score</a:t>
            </a:r>
          </a:p>
          <a:p>
            <a:r>
              <a:rPr lang="es-MX" dirty="0"/>
              <a:t>Matriz de Confusión</a:t>
            </a:r>
          </a:p>
        </p:txBody>
      </p:sp>
    </p:spTree>
    <p:extLst>
      <p:ext uri="{BB962C8B-B14F-4D97-AF65-F5344CB8AC3E}">
        <p14:creationId xmlns:p14="http://schemas.microsoft.com/office/powerpoint/2010/main" val="255394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Desafíos del Proyecto</a:t>
            </a:r>
            <a:endParaRPr lang="es-ES" b="1" dirty="0"/>
          </a:p>
        </p:txBody>
      </p:sp>
      <p:sp>
        <p:nvSpPr>
          <p:cNvPr id="5" name="Marcador de posición de contenido 4"/>
          <p:cNvSpPr>
            <a:spLocks noGrp="1"/>
          </p:cNvSpPr>
          <p:nvPr>
            <p:ph sz="half" idx="1"/>
          </p:nvPr>
        </p:nvSpPr>
        <p:spPr>
          <a:xfrm>
            <a:off x="1402310" y="1844824"/>
            <a:ext cx="4708734" cy="4343400"/>
          </a:xfrm>
        </p:spPr>
        <p:txBody>
          <a:bodyPr rtlCol="0"/>
          <a:lstStyle/>
          <a:p>
            <a:r>
              <a:rPr lang="es-MX" dirty="0"/>
              <a:t>Clases desbalanceadas</a:t>
            </a:r>
          </a:p>
          <a:p>
            <a:pPr lvl="1"/>
            <a:r>
              <a:rPr lang="es-MX" dirty="0"/>
              <a:t>Uso de SMOTE o submuestreo</a:t>
            </a:r>
          </a:p>
          <a:p>
            <a:r>
              <a:rPr lang="es-MX" dirty="0"/>
              <a:t>Calidad y actualización de datos</a:t>
            </a:r>
          </a:p>
          <a:p>
            <a:r>
              <a:rPr lang="es-MX" dirty="0"/>
              <a:t>Interpretabilidad del modelo</a:t>
            </a:r>
          </a:p>
          <a:p>
            <a:r>
              <a:rPr lang="es-MX" dirty="0"/>
              <a:t>Transparencia y trazabilidad para política pública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01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Fuentes de Datos</a:t>
            </a:r>
            <a:endParaRPr lang="es-ES" b="1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6445309" cy="4343400"/>
          </a:xfrm>
        </p:spPr>
        <p:txBody>
          <a:bodyPr rtlCol="0">
            <a:normAutofit lnSpcReduction="10000"/>
          </a:bodyPr>
          <a:lstStyle/>
          <a:p>
            <a:pPr marL="45720" indent="0">
              <a:buNone/>
            </a:pPr>
            <a:r>
              <a:rPr lang="es-MX" b="1" dirty="0"/>
              <a:t>DANE</a:t>
            </a:r>
            <a:endParaRPr lang="es-MX" dirty="0"/>
          </a:p>
          <a:p>
            <a:r>
              <a:rPr lang="es-MX" dirty="0"/>
              <a:t>Gran Encuesta Integrada de Hogares (GEIH)</a:t>
            </a:r>
          </a:p>
          <a:p>
            <a:r>
              <a:rPr lang="es-MX" dirty="0"/>
              <a:t>Encuesta Nacional de Calidad de Vida (ECV)</a:t>
            </a:r>
          </a:p>
          <a:p>
            <a:pPr marL="45720" indent="0">
              <a:buNone/>
            </a:pPr>
            <a:r>
              <a:rPr lang="es-MX" b="1" dirty="0"/>
              <a:t>Departamento Nacional de Planeación</a:t>
            </a:r>
            <a:endParaRPr lang="es-MX" dirty="0"/>
          </a:p>
          <a:p>
            <a:r>
              <a:rPr lang="es-MX" dirty="0"/>
              <a:t>Metodología y clasificación del SISBÉN</a:t>
            </a:r>
          </a:p>
          <a:p>
            <a:pPr marL="45720" indent="0">
              <a:buNone/>
            </a:pPr>
            <a:r>
              <a:rPr lang="es-MX" b="1" dirty="0"/>
              <a:t>Tamaño estimado del dataset:</a:t>
            </a:r>
            <a:br>
              <a:rPr lang="es-MX" dirty="0"/>
            </a:br>
            <a:r>
              <a:rPr lang="es-MX" dirty="0"/>
              <a:t>25.000 – 50.000 hogares</a:t>
            </a:r>
            <a:br>
              <a:rPr lang="es-MX" dirty="0"/>
            </a:br>
            <a:r>
              <a:rPr lang="es-MX" dirty="0"/>
              <a:t>Periodo: 2023–2025</a:t>
            </a:r>
          </a:p>
        </p:txBody>
      </p:sp>
    </p:spTree>
    <p:extLst>
      <p:ext uri="{BB962C8B-B14F-4D97-AF65-F5344CB8AC3E}">
        <p14:creationId xmlns:p14="http://schemas.microsoft.com/office/powerpoint/2010/main" val="260042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217612" y="23019"/>
            <a:ext cx="9753600" cy="1325562"/>
          </a:xfrm>
        </p:spPr>
        <p:txBody>
          <a:bodyPr rtlCol="0"/>
          <a:lstStyle/>
          <a:p>
            <a:r>
              <a:rPr lang="es-CO" b="1" dirty="0"/>
              <a:t>Variables del Modelo</a:t>
            </a:r>
            <a:endParaRPr lang="es-ES" b="1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549796" y="1828800"/>
            <a:ext cx="5184576" cy="4624536"/>
          </a:xfrm>
        </p:spPr>
        <p:txBody>
          <a:bodyPr rtlCol="0">
            <a:normAutofit fontScale="85000" lnSpcReduction="20000"/>
          </a:bodyPr>
          <a:lstStyle/>
          <a:p>
            <a:pPr marL="45720" indent="0">
              <a:buNone/>
            </a:pPr>
            <a:r>
              <a:rPr lang="es-MX" sz="2100" b="1" dirty="0"/>
              <a:t>Variables Predictoras</a:t>
            </a:r>
          </a:p>
          <a:p>
            <a:pPr marL="45720" indent="0">
              <a:buNone/>
            </a:pPr>
            <a:r>
              <a:rPr lang="es-MX" sz="2100" b="1" dirty="0"/>
              <a:t>1. Capital Humano</a:t>
            </a:r>
            <a:endParaRPr lang="es-MX" sz="2100" dirty="0"/>
          </a:p>
          <a:p>
            <a:r>
              <a:rPr lang="es-MX" sz="2100" dirty="0"/>
              <a:t>Edad del jefe del hogar</a:t>
            </a:r>
          </a:p>
          <a:p>
            <a:r>
              <a:rPr lang="es-MX" sz="2100" dirty="0"/>
              <a:t>Nivel educativo</a:t>
            </a:r>
          </a:p>
          <a:p>
            <a:r>
              <a:rPr lang="es-MX" sz="2100" dirty="0"/>
              <a:t>Condición laboral</a:t>
            </a:r>
          </a:p>
          <a:p>
            <a:r>
              <a:rPr lang="es-MX" sz="2100" dirty="0"/>
              <a:t>Formalidad</a:t>
            </a:r>
          </a:p>
          <a:p>
            <a:pPr marL="45720" indent="0">
              <a:buNone/>
            </a:pPr>
            <a:r>
              <a:rPr lang="es-MX" sz="2100" b="1" dirty="0"/>
              <a:t>2. Demográficas</a:t>
            </a:r>
            <a:endParaRPr lang="es-MX" sz="2100" dirty="0"/>
          </a:p>
          <a:p>
            <a:r>
              <a:rPr lang="es-MX" sz="2100" dirty="0"/>
              <a:t>Número de personas</a:t>
            </a:r>
          </a:p>
          <a:p>
            <a:r>
              <a:rPr lang="es-MX" sz="2100" dirty="0"/>
              <a:t>Número de menores</a:t>
            </a:r>
          </a:p>
          <a:p>
            <a:r>
              <a:rPr lang="es-MX" sz="2100" dirty="0"/>
              <a:t>Adultos mayores</a:t>
            </a:r>
          </a:p>
          <a:p>
            <a:r>
              <a:rPr lang="es-MX" sz="2100" dirty="0"/>
              <a:t>Razón de dependencia</a:t>
            </a:r>
            <a:endParaRPr lang="es-MX" sz="1600" dirty="0"/>
          </a:p>
        </p:txBody>
      </p:sp>
      <p:sp>
        <p:nvSpPr>
          <p:cNvPr id="2" name="Marcador de posición de contenido 2">
            <a:extLst>
              <a:ext uri="{FF2B5EF4-FFF2-40B4-BE49-F238E27FC236}">
                <a16:creationId xmlns:a16="http://schemas.microsoft.com/office/drawing/2014/main" id="{459B510E-5F68-0564-CD53-6D360391DED2}"/>
              </a:ext>
            </a:extLst>
          </p:cNvPr>
          <p:cNvSpPr txBox="1">
            <a:spLocks/>
          </p:cNvSpPr>
          <p:nvPr/>
        </p:nvSpPr>
        <p:spPr>
          <a:xfrm>
            <a:off x="5734372" y="1828800"/>
            <a:ext cx="5236840" cy="462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4520" indent="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80000"/>
              <a:buFont typeface="Arial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es-MX" sz="1600" b="1" dirty="0"/>
              <a:t>3. Económicas</a:t>
            </a:r>
            <a:endParaRPr lang="es-MX" sz="1600" dirty="0"/>
          </a:p>
          <a:p>
            <a:r>
              <a:rPr lang="es-MX" sz="1600" dirty="0"/>
              <a:t>Ingreso total del hogar</a:t>
            </a:r>
          </a:p>
          <a:p>
            <a:r>
              <a:rPr lang="es-MX" sz="1600" dirty="0"/>
              <a:t>Ingreso per cápita</a:t>
            </a:r>
          </a:p>
          <a:p>
            <a:r>
              <a:rPr lang="es-MX" sz="1600" dirty="0"/>
              <a:t>Número de ocupados</a:t>
            </a:r>
          </a:p>
          <a:p>
            <a:pPr marL="45720" indent="0">
              <a:buNone/>
            </a:pPr>
            <a:r>
              <a:rPr lang="es-MX" sz="1600" b="1" dirty="0"/>
              <a:t>4. Vivienda</a:t>
            </a:r>
            <a:endParaRPr lang="es-MX" sz="1600" dirty="0"/>
          </a:p>
          <a:p>
            <a:r>
              <a:rPr lang="es-MX" sz="1600" dirty="0"/>
              <a:t>Material del piso y paredes</a:t>
            </a:r>
          </a:p>
          <a:p>
            <a:r>
              <a:rPr lang="es-MX" sz="1600" dirty="0"/>
              <a:t>Hacinamiento</a:t>
            </a:r>
          </a:p>
          <a:p>
            <a:r>
              <a:rPr lang="es-MX" sz="1600" dirty="0"/>
              <a:t>Acceso a servicios públicos</a:t>
            </a:r>
          </a:p>
          <a:p>
            <a:pPr marL="45720" indent="0">
              <a:buNone/>
            </a:pPr>
            <a:endParaRPr lang="es-CO" sz="15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C8A835-7760-6422-31BA-C96C593D8CBF}"/>
              </a:ext>
            </a:extLst>
          </p:cNvPr>
          <p:cNvSpPr txBox="1"/>
          <p:nvPr/>
        </p:nvSpPr>
        <p:spPr>
          <a:xfrm>
            <a:off x="8686700" y="886916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45720" indent="0">
              <a:buNone/>
            </a:pPr>
            <a:r>
              <a:rPr lang="es-CO" b="1" dirty="0"/>
              <a:t>Variable Objetivo (Target)</a:t>
            </a:r>
          </a:p>
          <a:p>
            <a:r>
              <a:rPr lang="es-CO" dirty="0"/>
              <a:t>1 = Hogar pobre</a:t>
            </a:r>
          </a:p>
          <a:p>
            <a:r>
              <a:rPr lang="es-CO" dirty="0"/>
              <a:t>0 = No pobre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5CD680-7B6A-F6A3-AB4F-1B39A1CED5B4}"/>
              </a:ext>
            </a:extLst>
          </p:cNvPr>
          <p:cNvSpPr txBox="1"/>
          <p:nvPr/>
        </p:nvSpPr>
        <p:spPr>
          <a:xfrm>
            <a:off x="5734372" y="5376118"/>
            <a:ext cx="7395410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45720" indent="0">
              <a:buNone/>
            </a:pPr>
            <a:r>
              <a:rPr lang="es-MX" sz="1600" b="1" dirty="0"/>
              <a:t>5. Ubicación</a:t>
            </a:r>
            <a:endParaRPr lang="es-MX" sz="1600" dirty="0"/>
          </a:p>
          <a:p>
            <a:r>
              <a:rPr lang="es-MX" sz="1600" dirty="0"/>
              <a:t>Zona urbana/rural</a:t>
            </a:r>
          </a:p>
          <a:p>
            <a:r>
              <a:rPr lang="es-MX" sz="1600" dirty="0"/>
              <a:t>Región</a:t>
            </a:r>
          </a:p>
          <a:p>
            <a:pPr marL="45720" indent="0">
              <a:buNone/>
            </a:pPr>
            <a:r>
              <a:rPr lang="es-MX" sz="1600" dirty="0"/>
              <a:t>Departamento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29899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/>
              <a:t>Conclusiones</a:t>
            </a:r>
            <a:endParaRPr lang="es-ES" b="1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8749565" cy="4343400"/>
          </a:xfrm>
        </p:spPr>
        <p:txBody>
          <a:bodyPr rtlCol="0"/>
          <a:lstStyle/>
          <a:p>
            <a:r>
              <a:rPr lang="es-MX" dirty="0"/>
              <a:t>Aplicación práctica de Inteligencia Artificial en política pública</a:t>
            </a:r>
          </a:p>
          <a:p>
            <a:r>
              <a:rPr lang="es-MX" dirty="0"/>
              <a:t>Mejora en eficiencia del gasto social</a:t>
            </a:r>
          </a:p>
          <a:p>
            <a:r>
              <a:rPr lang="es-MX" dirty="0"/>
              <a:t>Modelo replicable y escalable</a:t>
            </a:r>
          </a:p>
          <a:p>
            <a:r>
              <a:rPr lang="es-MX" dirty="0"/>
              <a:t>Contribución a la reducción de pobreza mediante mejor focalización</a:t>
            </a:r>
          </a:p>
        </p:txBody>
      </p:sp>
    </p:spTree>
    <p:extLst>
      <p:ext uri="{BB962C8B-B14F-4D97-AF65-F5344CB8AC3E}">
        <p14:creationId xmlns:p14="http://schemas.microsoft.com/office/powerpoint/2010/main" val="37323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esentación de informe de paí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lnSpc>
            <a:spcPct val="90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308906_TF03460629.potx" id="{109AFAB4-4138-49A9-9A31-27D3560830AE}" vid="{0E88772D-D141-47F8-94A1-10D0B0B196E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informes por país</Template>
  <TotalTime>168</TotalTime>
  <Words>506</Words>
  <Application>Microsoft Office PowerPoint</Application>
  <PresentationFormat>Personalizado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Presentación de informe de país</vt:lpstr>
      <vt:lpstr>Clasificación de Hogares Pobres para la Focalización de Subsidios mediante Modelos Supervisados</vt:lpstr>
      <vt:lpstr>Objetivo General</vt:lpstr>
      <vt:lpstr>Descripción del Problema</vt:lpstr>
      <vt:lpstr>Entrega de Valor</vt:lpstr>
      <vt:lpstr>Stakeholders</vt:lpstr>
      <vt:lpstr>Técnicas que se Utilizarán</vt:lpstr>
      <vt:lpstr>Desafíos del Proyecto</vt:lpstr>
      <vt:lpstr>Fuentes de Datos</vt:lpstr>
      <vt:lpstr>Variables del Modelo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Felipe Ruiz Parra</dc:creator>
  <cp:lastModifiedBy>David Felipe Ruiz Parra</cp:lastModifiedBy>
  <cp:revision>2</cp:revision>
  <dcterms:created xsi:type="dcterms:W3CDTF">2026-02-24T01:13:01Z</dcterms:created>
  <dcterms:modified xsi:type="dcterms:W3CDTF">2026-02-26T02:26:52Z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